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57" r:id="rId3"/>
    <p:sldId id="258" r:id="rId4"/>
    <p:sldId id="259" r:id="rId5"/>
    <p:sldId id="272" r:id="rId6"/>
    <p:sldId id="273" r:id="rId7"/>
    <p:sldId id="274" r:id="rId8"/>
    <p:sldId id="275" r:id="rId9"/>
    <p:sldId id="260" r:id="rId10"/>
    <p:sldId id="278" r:id="rId11"/>
    <p:sldId id="279" r:id="rId12"/>
    <p:sldId id="261"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a Guerrero Sanchez" initials="AGS" lastIdx="1" clrIdx="0">
    <p:extLst>
      <p:ext uri="{19B8F6BF-5375-455C-9EA6-DF929625EA0E}">
        <p15:presenceInfo xmlns:p15="http://schemas.microsoft.com/office/powerpoint/2012/main" userId="87a1d1b04415548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0A7585-1E81-4B89-A721-19851F6CFC47}"/>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D1B0DC4B-D4DB-4290-922B-2BA09064CF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F11F3DF1-0A28-4382-A34C-99FD4DFD12AA}"/>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5" name="Marcador de pie de página 4">
            <a:extLst>
              <a:ext uri="{FF2B5EF4-FFF2-40B4-BE49-F238E27FC236}">
                <a16:creationId xmlns:a16="http://schemas.microsoft.com/office/drawing/2014/main" id="{2C172D6A-4EC8-451C-8541-F91C46F2CCD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AD66E9-5194-4550-9AAC-6BB82180A3D7}"/>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371262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9BBC0-76E2-4993-8A8C-C383C808CD80}"/>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C60D86CE-7CA3-43BC-B3FC-74A5552B2ED9}"/>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36231798-3187-49E2-9E53-3F0A413511AC}"/>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5" name="Marcador de pie de página 4">
            <a:extLst>
              <a:ext uri="{FF2B5EF4-FFF2-40B4-BE49-F238E27FC236}">
                <a16:creationId xmlns:a16="http://schemas.microsoft.com/office/drawing/2014/main" id="{94CCE5BA-96BD-4BF2-A820-77F7EFB78D8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9891DCA-8F2F-4070-89AB-874D868F07CA}"/>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1289115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72F587-7488-4115-9294-FC400E2F23F0}"/>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AB8BD5E5-551F-47B8-B868-1284879271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B736E5C2-49A2-48A4-B4EE-8575155644FE}"/>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5" name="Marcador de pie de página 4">
            <a:extLst>
              <a:ext uri="{FF2B5EF4-FFF2-40B4-BE49-F238E27FC236}">
                <a16:creationId xmlns:a16="http://schemas.microsoft.com/office/drawing/2014/main" id="{1C0964EF-8526-4795-B8B9-9D0422E78A4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C426C6-A8B8-4847-BABD-1114DFC56F7B}"/>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112069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0D332-B469-49C8-9705-6F1408B81598}"/>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EF334A22-17C0-42D8-AE21-7BE918626B1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D2EEF2E6-7491-434D-A513-48501F89CB67}"/>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22D12D8F-5984-486E-91C6-F36D3C4C5CD7}"/>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6" name="Marcador de pie de página 5">
            <a:extLst>
              <a:ext uri="{FF2B5EF4-FFF2-40B4-BE49-F238E27FC236}">
                <a16:creationId xmlns:a16="http://schemas.microsoft.com/office/drawing/2014/main" id="{881200C0-1F04-4DD1-B7DA-98BF35E5CFD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9BABBB7-8173-444D-A6FD-A4A538FFBCF5}"/>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1197694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9371F6-B253-4B21-B4AD-76BEF53A61F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3575E92E-5F33-4E68-9C6C-4AA5C0EC19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8D42878E-878B-43D5-9CE2-9623E1879B7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0435B518-9E17-422C-A6C5-91C87E9221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24AA387D-4CD9-4AB8-8BB2-DA46AA0D89DD}"/>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27585EE5-B140-40A3-8C39-EE1922FECA2A}"/>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8" name="Marcador de pie de página 7">
            <a:extLst>
              <a:ext uri="{FF2B5EF4-FFF2-40B4-BE49-F238E27FC236}">
                <a16:creationId xmlns:a16="http://schemas.microsoft.com/office/drawing/2014/main" id="{468FE666-E355-4C6A-B3D5-826A0AD8E9C9}"/>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9BA76EE-A9EB-4B80-B1AA-1DAF07BA548F}"/>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285230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4FA6DD-1FC4-460D-8D3A-9B705569A662}"/>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0BC047CC-A8C1-4541-8933-DA17AC6ECBB0}"/>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4" name="Marcador de pie de página 3">
            <a:extLst>
              <a:ext uri="{FF2B5EF4-FFF2-40B4-BE49-F238E27FC236}">
                <a16:creationId xmlns:a16="http://schemas.microsoft.com/office/drawing/2014/main" id="{1D23C5BF-9C63-414A-AD3F-C682A2B4ABC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78186D3-573F-4895-A639-95C8F2CB064E}"/>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894200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35C4240-256F-4A0D-8462-03CA9E3F0AAF}"/>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3" name="Marcador de pie de página 2">
            <a:extLst>
              <a:ext uri="{FF2B5EF4-FFF2-40B4-BE49-F238E27FC236}">
                <a16:creationId xmlns:a16="http://schemas.microsoft.com/office/drawing/2014/main" id="{5459A8C5-473E-49F5-BD17-149EE494FDF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1B52EE9D-581D-489A-9649-44C9491F2DB6}"/>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4170745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AF44F0-86C1-44E6-AAAA-74C43DEEE51E}"/>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D790354C-1F3B-458B-BBDC-C48707F4AB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60E58416-2C85-49E7-B1B8-A7079328A1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1069B0FC-3B3A-4C50-90AE-6AF6F98CA1F1}"/>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6" name="Marcador de pie de página 5">
            <a:extLst>
              <a:ext uri="{FF2B5EF4-FFF2-40B4-BE49-F238E27FC236}">
                <a16:creationId xmlns:a16="http://schemas.microsoft.com/office/drawing/2014/main" id="{76A1EBB0-A59F-4C6A-A593-6BE5C2A6425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C03EBC7-B4C1-4B9A-A00E-3065E3DA1183}"/>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3677286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F8F24-8B8D-4951-B99E-7BFC1EE9530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EBCA700D-A802-4F82-9F30-9775D423DA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398A4A6-A3E8-44CB-A9E8-9F09A54B95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035ED81-7F22-416F-9809-5D7261D4F498}"/>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6" name="Marcador de pie de página 5">
            <a:extLst>
              <a:ext uri="{FF2B5EF4-FFF2-40B4-BE49-F238E27FC236}">
                <a16:creationId xmlns:a16="http://schemas.microsoft.com/office/drawing/2014/main" id="{2A147212-1FD8-4401-B46A-5B2A94953D5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3FA4F0E-820A-4780-99CE-9110C6F3108F}"/>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108052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E065AA-46BE-4112-A7D2-02EC5C7A02F7}"/>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B437F5A4-79BC-41E5-903F-09AC8CF7D53F}"/>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A137851A-8F3A-4621-9713-F70AC25ED417}"/>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5" name="Marcador de pie de página 4">
            <a:extLst>
              <a:ext uri="{FF2B5EF4-FFF2-40B4-BE49-F238E27FC236}">
                <a16:creationId xmlns:a16="http://schemas.microsoft.com/office/drawing/2014/main" id="{4B880EA1-E448-45DA-B8E9-6723E3F3CF3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2CECFF-2709-4952-95D8-C6CE252013A9}"/>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1718044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FDD4BFD-35AB-4037-B91F-821FE3549566}"/>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89856557-0DC6-4B7D-92D4-8D8676CB22D8}"/>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9CF2E404-A3A1-4C69-8127-6C8B2DF02741}"/>
              </a:ext>
            </a:extLst>
          </p:cNvPr>
          <p:cNvSpPr>
            <a:spLocks noGrp="1"/>
          </p:cNvSpPr>
          <p:nvPr>
            <p:ph type="dt" sz="half" idx="10"/>
          </p:nvPr>
        </p:nvSpPr>
        <p:spPr/>
        <p:txBody>
          <a:bodyPr/>
          <a:lstStyle/>
          <a:p>
            <a:fld id="{06F0D1EA-5863-4B27-B30E-70649C9C437C}" type="datetimeFigureOut">
              <a:rPr lang="es-CO" smtClean="0"/>
              <a:t>30/08/2024</a:t>
            </a:fld>
            <a:endParaRPr lang="es-CO"/>
          </a:p>
        </p:txBody>
      </p:sp>
      <p:sp>
        <p:nvSpPr>
          <p:cNvPr id="5" name="Marcador de pie de página 4">
            <a:extLst>
              <a:ext uri="{FF2B5EF4-FFF2-40B4-BE49-F238E27FC236}">
                <a16:creationId xmlns:a16="http://schemas.microsoft.com/office/drawing/2014/main" id="{D3A305D9-1284-4350-8BF0-29F4AF86433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CBF3CA4-7144-49B0-A870-204B9247FC02}"/>
              </a:ext>
            </a:extLst>
          </p:cNvPr>
          <p:cNvSpPr>
            <a:spLocks noGrp="1"/>
          </p:cNvSpPr>
          <p:nvPr>
            <p:ph type="sldNum" sz="quarter" idx="12"/>
          </p:nvPr>
        </p:nvSpPr>
        <p:spPr/>
        <p:txBody>
          <a:bodyPr/>
          <a:lstStyle/>
          <a:p>
            <a:fld id="{18D54AF6-DE68-484A-A9C1-52524336B007}" type="slidenum">
              <a:rPr lang="es-CO" smtClean="0"/>
              <a:t>‹Nº›</a:t>
            </a:fld>
            <a:endParaRPr lang="es-CO"/>
          </a:p>
        </p:txBody>
      </p:sp>
    </p:spTree>
    <p:extLst>
      <p:ext uri="{BB962C8B-B14F-4D97-AF65-F5344CB8AC3E}">
        <p14:creationId xmlns:p14="http://schemas.microsoft.com/office/powerpoint/2010/main" val="259634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9B964E5-2515-459F-ACD1-D911E4D7FE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484433D9-57F1-4E86-8BC3-6F8660E50E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DD21436-21CB-4351-AABC-A1F855903B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F0D1EA-5863-4B27-B30E-70649C9C437C}" type="datetimeFigureOut">
              <a:rPr lang="es-CO" smtClean="0"/>
              <a:t>30/08/2024</a:t>
            </a:fld>
            <a:endParaRPr lang="es-CO"/>
          </a:p>
        </p:txBody>
      </p:sp>
      <p:sp>
        <p:nvSpPr>
          <p:cNvPr id="5" name="Marcador de pie de página 4">
            <a:extLst>
              <a:ext uri="{FF2B5EF4-FFF2-40B4-BE49-F238E27FC236}">
                <a16:creationId xmlns:a16="http://schemas.microsoft.com/office/drawing/2014/main" id="{5BC4D5B9-B1B4-4DBA-AB7F-A0D3C9EFA9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7914431B-D3A9-4BEC-987F-975FB0032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D54AF6-DE68-484A-A9C1-52524336B007}" type="slidenum">
              <a:rPr lang="es-CO" smtClean="0"/>
              <a:t>‹Nº›</a:t>
            </a:fld>
            <a:endParaRPr lang="es-CO"/>
          </a:p>
        </p:txBody>
      </p:sp>
    </p:spTree>
    <p:extLst>
      <p:ext uri="{BB962C8B-B14F-4D97-AF65-F5344CB8AC3E}">
        <p14:creationId xmlns:p14="http://schemas.microsoft.com/office/powerpoint/2010/main" val="4032491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GROOMING.mp4" TargetMode="External"/><Relationship Id="rId1" Type="http://schemas.openxmlformats.org/officeDocument/2006/relationships/slideLayout" Target="../slideLayouts/slideLayout2.xml"/><Relationship Id="rId4" Type="http://schemas.openxmlformats.org/officeDocument/2006/relationships/hyperlink" Target="https://www.savethechildren.es/actualidad/como-evitar-bullyin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CIBERBULLYNG.mp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ortorelatos.com/articulo/1/consejos-para-escribir-relatos-cortos-como-un-profesional/" TargetMode="External"/><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BC1DCB-66A4-4A12-925E-27EDF7CAEBEC}"/>
              </a:ext>
            </a:extLst>
          </p:cNvPr>
          <p:cNvSpPr>
            <a:spLocks noGrp="1"/>
          </p:cNvSpPr>
          <p:nvPr>
            <p:ph type="ctrTitle"/>
          </p:nvPr>
        </p:nvSpPr>
        <p:spPr/>
        <p:txBody>
          <a:bodyPr/>
          <a:lstStyle/>
          <a:p>
            <a:endParaRPr lang="es-CO"/>
          </a:p>
        </p:txBody>
      </p:sp>
      <p:sp>
        <p:nvSpPr>
          <p:cNvPr id="3" name="Subtítulo 2">
            <a:extLst>
              <a:ext uri="{FF2B5EF4-FFF2-40B4-BE49-F238E27FC236}">
                <a16:creationId xmlns:a16="http://schemas.microsoft.com/office/drawing/2014/main" id="{25255205-57DB-47D9-8AAC-E874DF280446}"/>
              </a:ext>
            </a:extLst>
          </p:cNvPr>
          <p:cNvSpPr>
            <a:spLocks noGrp="1"/>
          </p:cNvSpPr>
          <p:nvPr>
            <p:ph type="subTitle" idx="1"/>
          </p:nvPr>
        </p:nvSpPr>
        <p:spPr/>
        <p:txBody>
          <a:bodyPr/>
          <a:lstStyle/>
          <a:p>
            <a:endParaRPr lang="es-CO"/>
          </a:p>
        </p:txBody>
      </p:sp>
      <p:pic>
        <p:nvPicPr>
          <p:cNvPr id="5" name="Imagen 4">
            <a:extLst>
              <a:ext uri="{FF2B5EF4-FFF2-40B4-BE49-F238E27FC236}">
                <a16:creationId xmlns:a16="http://schemas.microsoft.com/office/drawing/2014/main" id="{69731D1B-7FD4-4CF3-BF91-4FBD1B1FC6C3}"/>
              </a:ext>
            </a:extLst>
          </p:cNvPr>
          <p:cNvPicPr>
            <a:picLocks noChangeAspect="1"/>
          </p:cNvPicPr>
          <p:nvPr/>
        </p:nvPicPr>
        <p:blipFill rotWithShape="1">
          <a:blip r:embed="rId2"/>
          <a:srcRect l="12500" t="14089" r="13913" b="14765"/>
          <a:stretch/>
        </p:blipFill>
        <p:spPr>
          <a:xfrm>
            <a:off x="0" y="0"/>
            <a:ext cx="12192000" cy="6858000"/>
          </a:xfrm>
          <a:prstGeom prst="rect">
            <a:avLst/>
          </a:prstGeom>
        </p:spPr>
      </p:pic>
    </p:spTree>
    <p:extLst>
      <p:ext uri="{BB962C8B-B14F-4D97-AF65-F5344CB8AC3E}">
        <p14:creationId xmlns:p14="http://schemas.microsoft.com/office/powerpoint/2010/main" val="31698554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EEB65-263A-4AE6-9A9A-303193CDE2B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B6C6351C-7533-4EC1-B3E6-6272F9754E31}"/>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E8E7C0DC-C900-4701-B858-7D302384918C}"/>
              </a:ext>
            </a:extLst>
          </p:cNvPr>
          <p:cNvPicPr>
            <a:picLocks noChangeAspect="1"/>
          </p:cNvPicPr>
          <p:nvPr/>
        </p:nvPicPr>
        <p:blipFill rotWithShape="1">
          <a:blip r:embed="rId2"/>
          <a:srcRect l="11087" t="12542" r="8261" b="13799"/>
          <a:stretch/>
        </p:blipFill>
        <p:spPr>
          <a:xfrm>
            <a:off x="530678" y="0"/>
            <a:ext cx="11330017" cy="6612835"/>
          </a:xfrm>
          <a:prstGeom prst="rect">
            <a:avLst/>
          </a:prstGeom>
        </p:spPr>
      </p:pic>
    </p:spTree>
    <p:extLst>
      <p:ext uri="{BB962C8B-B14F-4D97-AF65-F5344CB8AC3E}">
        <p14:creationId xmlns:p14="http://schemas.microsoft.com/office/powerpoint/2010/main" val="36455774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hlinkClick r:id="rId2" action="ppaction://hlinksldjump"/>
            <a:extLst>
              <a:ext uri="{FF2B5EF4-FFF2-40B4-BE49-F238E27FC236}">
                <a16:creationId xmlns:a16="http://schemas.microsoft.com/office/drawing/2014/main" id="{85C40B63-FD14-4122-9F3E-2A454C545A35}"/>
              </a:ext>
            </a:extLst>
          </p:cNvPr>
          <p:cNvPicPr>
            <a:picLocks noChangeAspect="1"/>
          </p:cNvPicPr>
          <p:nvPr/>
        </p:nvPicPr>
        <p:blipFill rotWithShape="1">
          <a:blip r:embed="rId3"/>
          <a:srcRect l="12826" t="15056" r="13695" b="16892"/>
          <a:stretch/>
        </p:blipFill>
        <p:spPr>
          <a:xfrm>
            <a:off x="-92764" y="0"/>
            <a:ext cx="12284764" cy="6858000"/>
          </a:xfrm>
          <a:prstGeom prst="rect">
            <a:avLst/>
          </a:prstGeom>
        </p:spPr>
      </p:pic>
    </p:spTree>
    <p:extLst>
      <p:ext uri="{BB962C8B-B14F-4D97-AF65-F5344CB8AC3E}">
        <p14:creationId xmlns:p14="http://schemas.microsoft.com/office/powerpoint/2010/main" val="1968880726"/>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2C39C-BBEA-409E-BD6E-CC3356FA201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3E47F43E-A763-4BC5-ADB6-726B4353539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FDB45971-633E-4852-AE7C-CEA6D6EFE58D}"/>
              </a:ext>
            </a:extLst>
          </p:cNvPr>
          <p:cNvPicPr>
            <a:picLocks noChangeAspect="1"/>
          </p:cNvPicPr>
          <p:nvPr/>
        </p:nvPicPr>
        <p:blipFill rotWithShape="1">
          <a:blip r:embed="rId2"/>
          <a:srcRect l="13750" t="13315" r="14131" b="15926"/>
          <a:stretch/>
        </p:blipFill>
        <p:spPr>
          <a:xfrm>
            <a:off x="0" y="-1"/>
            <a:ext cx="12252288" cy="6858001"/>
          </a:xfrm>
          <a:prstGeom prst="rect">
            <a:avLst/>
          </a:prstGeom>
        </p:spPr>
      </p:pic>
    </p:spTree>
    <p:extLst>
      <p:ext uri="{BB962C8B-B14F-4D97-AF65-F5344CB8AC3E}">
        <p14:creationId xmlns:p14="http://schemas.microsoft.com/office/powerpoint/2010/main" val="42593130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A4C12-0267-4FD6-90D5-4FC320C5ADCF}"/>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F825ED7-1A13-45DC-9EC8-F12B076E4707}"/>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6631BF0C-9B0D-4868-B801-2CC20875BAEA}"/>
              </a:ext>
            </a:extLst>
          </p:cNvPr>
          <p:cNvPicPr>
            <a:picLocks noChangeAspect="1"/>
          </p:cNvPicPr>
          <p:nvPr/>
        </p:nvPicPr>
        <p:blipFill rotWithShape="1">
          <a:blip r:embed="rId2"/>
          <a:srcRect l="30978" t="28782" r="10109" b="12832"/>
          <a:stretch/>
        </p:blipFill>
        <p:spPr>
          <a:xfrm>
            <a:off x="-1" y="0"/>
            <a:ext cx="12308067" cy="6858000"/>
          </a:xfrm>
          <a:prstGeom prst="rect">
            <a:avLst/>
          </a:prstGeom>
        </p:spPr>
      </p:pic>
    </p:spTree>
    <p:extLst>
      <p:ext uri="{BB962C8B-B14F-4D97-AF65-F5344CB8AC3E}">
        <p14:creationId xmlns:p14="http://schemas.microsoft.com/office/powerpoint/2010/main" val="1141993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68E88C-7D87-4392-BE2B-BEFF8F32A6DE}"/>
              </a:ext>
            </a:extLst>
          </p:cNvPr>
          <p:cNvSpPr>
            <a:spLocks noGrp="1"/>
          </p:cNvSpPr>
          <p:nvPr>
            <p:ph type="title"/>
          </p:nvPr>
        </p:nvSpPr>
        <p:spPr>
          <a:xfrm>
            <a:off x="631622" y="352821"/>
            <a:ext cx="10515600" cy="1325563"/>
          </a:xfrm>
        </p:spPr>
        <p:txBody>
          <a:bodyPr>
            <a:noAutofit/>
          </a:bodyPr>
          <a:lstStyle/>
          <a:p>
            <a:r>
              <a:rPr lang="es-CO" sz="9600" b="1" dirty="0">
                <a:ln w="22225">
                  <a:solidFill>
                    <a:schemeClr val="accent2"/>
                  </a:solidFill>
                  <a:prstDash val="solid"/>
                </a:ln>
                <a:solidFill>
                  <a:schemeClr val="accent2">
                    <a:lumMod val="40000"/>
                    <a:lumOff val="60000"/>
                  </a:schemeClr>
                </a:solidFill>
              </a:rPr>
              <a:t>SEXTING</a:t>
            </a:r>
          </a:p>
        </p:txBody>
      </p:sp>
      <p:sp>
        <p:nvSpPr>
          <p:cNvPr id="3" name="Marcador de contenido 2">
            <a:extLst>
              <a:ext uri="{FF2B5EF4-FFF2-40B4-BE49-F238E27FC236}">
                <a16:creationId xmlns:a16="http://schemas.microsoft.com/office/drawing/2014/main" id="{2EEA505B-85FC-454A-AE23-17E06E2929B7}"/>
              </a:ext>
            </a:extLst>
          </p:cNvPr>
          <p:cNvSpPr>
            <a:spLocks noGrp="1"/>
          </p:cNvSpPr>
          <p:nvPr>
            <p:ph idx="1"/>
          </p:nvPr>
        </p:nvSpPr>
        <p:spPr>
          <a:xfrm>
            <a:off x="382169" y="1875989"/>
            <a:ext cx="6408596" cy="4351338"/>
          </a:xfrm>
        </p:spPr>
        <p:txBody>
          <a:bodyPr>
            <a:noAutofit/>
          </a:bodyPr>
          <a:lstStyle/>
          <a:p>
            <a:pPr marL="0" indent="0" algn="just">
              <a:buNone/>
            </a:pPr>
            <a:r>
              <a:rPr lang="es-MX" sz="2400" i="0" dirty="0">
                <a:effectLst/>
                <a:latin typeface="SF Pro Display"/>
              </a:rPr>
              <a:t>El sexting es una práctica que consiste en el envío de mensajes o difusión de imágenes con contenido erótico a través de dispositivos tecnológicos de manera voluntaria. Se refiere al envío de contenidos eróticos o pornográficos a través de mensajería instantánea, correo electrónico, redes sociales, o cualquier otro lugar. </a:t>
            </a:r>
          </a:p>
          <a:p>
            <a:pPr marL="0" indent="0" algn="just">
              <a:buNone/>
            </a:pPr>
            <a:r>
              <a:rPr lang="es-MX" sz="2400" i="0" dirty="0">
                <a:effectLst/>
                <a:latin typeface="SF Pro Display"/>
              </a:rPr>
              <a:t>Está practica representa riesgos como la protección de datos personales a través de la suplantación de identidad y problemas derivados del intercambio de mensajes íntimos.</a:t>
            </a:r>
            <a:endParaRPr lang="es-CO" sz="2400" dirty="0"/>
          </a:p>
        </p:txBody>
      </p:sp>
      <p:pic>
        <p:nvPicPr>
          <p:cNvPr id="5" name="Imagen 4">
            <a:extLst>
              <a:ext uri="{FF2B5EF4-FFF2-40B4-BE49-F238E27FC236}">
                <a16:creationId xmlns:a16="http://schemas.microsoft.com/office/drawing/2014/main" id="{E9DD98D5-16D6-49B2-9E6B-B58EE9A738E8}"/>
              </a:ext>
            </a:extLst>
          </p:cNvPr>
          <p:cNvPicPr>
            <a:picLocks noChangeAspect="1"/>
          </p:cNvPicPr>
          <p:nvPr/>
        </p:nvPicPr>
        <p:blipFill rotWithShape="1">
          <a:blip r:embed="rId2"/>
          <a:srcRect l="59239" t="23175" r="16087" b="26752"/>
          <a:stretch/>
        </p:blipFill>
        <p:spPr>
          <a:xfrm>
            <a:off x="6944139" y="278295"/>
            <a:ext cx="4717774" cy="5738192"/>
          </a:xfrm>
          <a:prstGeom prst="rect">
            <a:avLst/>
          </a:prstGeom>
        </p:spPr>
      </p:pic>
    </p:spTree>
    <p:extLst>
      <p:ext uri="{BB962C8B-B14F-4D97-AF65-F5344CB8AC3E}">
        <p14:creationId xmlns:p14="http://schemas.microsoft.com/office/powerpoint/2010/main" val="426742264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E6A7D67-6000-4344-A0F9-F3D35C78BF83}"/>
              </a:ext>
            </a:extLst>
          </p:cNvPr>
          <p:cNvSpPr txBox="1">
            <a:spLocks/>
          </p:cNvSpPr>
          <p:nvPr/>
        </p:nvSpPr>
        <p:spPr>
          <a:xfrm>
            <a:off x="3056380" y="202876"/>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s-CO" sz="9600" b="1">
                <a:ln w="22225">
                  <a:solidFill>
                    <a:schemeClr val="accent2"/>
                  </a:solidFill>
                  <a:prstDash val="solid"/>
                </a:ln>
                <a:solidFill>
                  <a:schemeClr val="accent2">
                    <a:lumMod val="40000"/>
                    <a:lumOff val="60000"/>
                  </a:schemeClr>
                </a:solidFill>
                <a:hlinkClick r:id="rId2" action="ppaction://hlinkfile"/>
              </a:rPr>
              <a:t>GROOMING</a:t>
            </a:r>
            <a:endParaRPr lang="es-CO" sz="9600" b="1" dirty="0">
              <a:ln w="22225">
                <a:solidFill>
                  <a:schemeClr val="accent2"/>
                </a:solidFill>
                <a:prstDash val="solid"/>
              </a:ln>
              <a:solidFill>
                <a:schemeClr val="accent2">
                  <a:lumMod val="40000"/>
                  <a:lumOff val="60000"/>
                </a:schemeClr>
              </a:solidFill>
            </a:endParaRPr>
          </a:p>
        </p:txBody>
      </p:sp>
      <p:pic>
        <p:nvPicPr>
          <p:cNvPr id="6" name="Imagen 5">
            <a:extLst>
              <a:ext uri="{FF2B5EF4-FFF2-40B4-BE49-F238E27FC236}">
                <a16:creationId xmlns:a16="http://schemas.microsoft.com/office/drawing/2014/main" id="{D452733B-8839-41E8-99C7-978F0703608A}"/>
              </a:ext>
            </a:extLst>
          </p:cNvPr>
          <p:cNvPicPr>
            <a:picLocks noChangeAspect="1"/>
          </p:cNvPicPr>
          <p:nvPr/>
        </p:nvPicPr>
        <p:blipFill rotWithShape="1">
          <a:blip r:embed="rId3"/>
          <a:srcRect l="54348" t="28492" r="4131" b="34292"/>
          <a:stretch/>
        </p:blipFill>
        <p:spPr>
          <a:xfrm>
            <a:off x="5433390" y="4024708"/>
            <a:ext cx="5062331" cy="2551043"/>
          </a:xfrm>
          <a:prstGeom prst="rect">
            <a:avLst/>
          </a:prstGeom>
        </p:spPr>
      </p:pic>
      <p:sp>
        <p:nvSpPr>
          <p:cNvPr id="7" name="CuadroTexto 6">
            <a:extLst>
              <a:ext uri="{FF2B5EF4-FFF2-40B4-BE49-F238E27FC236}">
                <a16:creationId xmlns:a16="http://schemas.microsoft.com/office/drawing/2014/main" id="{17C678D7-80E2-4A6E-8A59-F05CCAEE3FA4}"/>
              </a:ext>
            </a:extLst>
          </p:cNvPr>
          <p:cNvSpPr txBox="1"/>
          <p:nvPr/>
        </p:nvSpPr>
        <p:spPr>
          <a:xfrm>
            <a:off x="581585" y="1557770"/>
            <a:ext cx="10808073" cy="2585323"/>
          </a:xfrm>
          <a:prstGeom prst="rect">
            <a:avLst/>
          </a:prstGeom>
          <a:noFill/>
          <a:ln>
            <a:solidFill>
              <a:srgbClr val="002060"/>
            </a:solidFill>
          </a:ln>
        </p:spPr>
        <p:txBody>
          <a:bodyPr wrap="square">
            <a:spAutoFit/>
          </a:bodyPr>
          <a:lstStyle/>
          <a:p>
            <a:pPr algn="just"/>
            <a:r>
              <a:rPr lang="es-MX" b="0" i="0" dirty="0">
                <a:solidFill>
                  <a:srgbClr val="222221"/>
                </a:solidFill>
                <a:effectLst/>
                <a:latin typeface="Arial" panose="020B0604020202020204" pitchFamily="34" charset="0"/>
              </a:rPr>
              <a:t>son formas delictivas de </a:t>
            </a:r>
            <a:r>
              <a:rPr lang="es-MX" b="1" i="0" u="sng" dirty="0">
                <a:solidFill>
                  <a:srgbClr val="9A3324"/>
                </a:solidFill>
                <a:effectLst/>
                <a:latin typeface="Arial" panose="020B0604020202020204" pitchFamily="34" charset="0"/>
                <a:hlinkClick r:id="rId4"/>
              </a:rPr>
              <a:t>acoso</a:t>
            </a:r>
            <a:r>
              <a:rPr lang="es-MX" b="0" i="0" dirty="0">
                <a:solidFill>
                  <a:srgbClr val="222221"/>
                </a:solidFill>
                <a:effectLst/>
                <a:latin typeface="Arial" panose="020B0604020202020204" pitchFamily="34" charset="0"/>
              </a:rPr>
              <a:t> que implican a </a:t>
            </a:r>
            <a:r>
              <a:rPr lang="es-MX" b="1" i="0" dirty="0">
                <a:solidFill>
                  <a:srgbClr val="222221"/>
                </a:solidFill>
                <a:effectLst/>
                <a:latin typeface="Arial" panose="020B0604020202020204" pitchFamily="34" charset="0"/>
              </a:rPr>
              <a:t>un adulto que se pone en contacto con un niño, niña o adolescente</a:t>
            </a:r>
            <a:r>
              <a:rPr lang="es-MX" b="0" i="0" dirty="0">
                <a:solidFill>
                  <a:srgbClr val="222221"/>
                </a:solidFill>
                <a:effectLst/>
                <a:latin typeface="Arial" panose="020B0604020202020204" pitchFamily="34" charset="0"/>
              </a:rPr>
              <a:t> con el fin de ganarse poco a poco su confianza </a:t>
            </a:r>
            <a:r>
              <a:rPr lang="es-MX" b="1" i="0" dirty="0">
                <a:solidFill>
                  <a:srgbClr val="222221"/>
                </a:solidFill>
                <a:effectLst/>
                <a:latin typeface="Arial" panose="020B0604020202020204" pitchFamily="34" charset="0"/>
              </a:rPr>
              <a:t>para luego involucrarle en una actividad sexual</a:t>
            </a:r>
            <a:r>
              <a:rPr lang="es-MX" b="0" i="0" dirty="0">
                <a:solidFill>
                  <a:srgbClr val="222221"/>
                </a:solidFill>
                <a:effectLst/>
                <a:latin typeface="Arial" panose="020B0604020202020204" pitchFamily="34" charset="0"/>
              </a:rPr>
              <a:t>. Además, </a:t>
            </a:r>
            <a:r>
              <a:rPr lang="es-MX" b="1" i="0" dirty="0">
                <a:solidFill>
                  <a:srgbClr val="222221"/>
                </a:solidFill>
                <a:effectLst/>
                <a:latin typeface="Arial" panose="020B0604020202020204" pitchFamily="34" charset="0"/>
              </a:rPr>
              <a:t>se suele hacer pasar por menor</a:t>
            </a:r>
            <a:r>
              <a:rPr lang="es-MX" b="0" i="0" dirty="0">
                <a:solidFill>
                  <a:srgbClr val="222221"/>
                </a:solidFill>
                <a:effectLst/>
                <a:latin typeface="Arial" panose="020B0604020202020204" pitchFamily="34" charset="0"/>
              </a:rPr>
              <a:t> y adapta el lenguaje a la edad de la víctima. Es una violencia igual de real que la física, pero de la que no se puede huir.</a:t>
            </a:r>
          </a:p>
          <a:p>
            <a:pPr algn="just"/>
            <a:r>
              <a:rPr lang="es-MX" b="0" i="0" dirty="0">
                <a:solidFill>
                  <a:srgbClr val="222221"/>
                </a:solidFill>
                <a:effectLst/>
                <a:latin typeface="Arial" panose="020B0604020202020204" pitchFamily="34" charset="0"/>
              </a:rPr>
              <a:t>Esta práctica tiene diferentes niveles de interacción y peligro: desde hablar de sexo y conseguir material íntimo, hasta llegar a mantener un encuentro sexual.</a:t>
            </a:r>
          </a:p>
          <a:p>
            <a:pPr algn="just"/>
            <a:r>
              <a:rPr lang="es-MX" b="0" i="0" dirty="0">
                <a:solidFill>
                  <a:srgbClr val="222221"/>
                </a:solidFill>
                <a:effectLst/>
                <a:latin typeface="Arial" panose="020B0604020202020204" pitchFamily="34" charset="0"/>
              </a:rPr>
              <a:t>Se trata de un </a:t>
            </a:r>
            <a:r>
              <a:rPr lang="es-MX" b="1" i="0" dirty="0">
                <a:solidFill>
                  <a:srgbClr val="222221"/>
                </a:solidFill>
                <a:effectLst/>
                <a:latin typeface="Arial" panose="020B0604020202020204" pitchFamily="34" charset="0"/>
              </a:rPr>
              <a:t>proceso en el que se produce un vínculo de confianza</a:t>
            </a:r>
            <a:r>
              <a:rPr lang="es-MX" b="0" i="0" dirty="0">
                <a:solidFill>
                  <a:srgbClr val="222221"/>
                </a:solidFill>
                <a:effectLst/>
                <a:latin typeface="Arial" panose="020B0604020202020204" pitchFamily="34" charset="0"/>
              </a:rPr>
              <a:t> entre la víctima y el acosador. Este intenta </a:t>
            </a:r>
            <a:r>
              <a:rPr lang="es-MX" b="1" i="0" dirty="0">
                <a:solidFill>
                  <a:srgbClr val="222221"/>
                </a:solidFill>
                <a:effectLst/>
                <a:latin typeface="Arial" panose="020B0604020202020204" pitchFamily="34" charset="0"/>
              </a:rPr>
              <a:t>aislar poco a poco al menor</a:t>
            </a:r>
            <a:r>
              <a:rPr lang="es-MX" b="0" i="0" dirty="0">
                <a:solidFill>
                  <a:srgbClr val="222221"/>
                </a:solidFill>
                <a:effectLst/>
                <a:latin typeface="Arial" panose="020B0604020202020204" pitchFamily="34" charset="0"/>
              </a:rPr>
              <a:t>, y lo consigue desprendiéndolo de su red de apoyo (familiares, profesores, amigos, etc.) y generando un ambiente de secretismo e intimidad.</a:t>
            </a:r>
          </a:p>
        </p:txBody>
      </p:sp>
    </p:spTree>
    <p:extLst>
      <p:ext uri="{BB962C8B-B14F-4D97-AF65-F5344CB8AC3E}">
        <p14:creationId xmlns:p14="http://schemas.microsoft.com/office/powerpoint/2010/main" val="5307662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AF3BAA-CA14-40DB-B1DF-B3C1F902EA6D}"/>
              </a:ext>
            </a:extLst>
          </p:cNvPr>
          <p:cNvSpPr>
            <a:spLocks noGrp="1"/>
          </p:cNvSpPr>
          <p:nvPr>
            <p:ph type="title"/>
          </p:nvPr>
        </p:nvSpPr>
        <p:spPr/>
        <p:txBody>
          <a:bodyPr>
            <a:normAutofit/>
          </a:bodyPr>
          <a:lstStyle/>
          <a:p>
            <a:r>
              <a:rPr lang="es-CO"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hlinkClick r:id="rId2" action="ppaction://hlinkfile"/>
              </a:rPr>
              <a:t>CIBERBULLYNG</a:t>
            </a:r>
            <a:endParaRPr lang="es-CO"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5" name="Imagen 4">
            <a:extLst>
              <a:ext uri="{FF2B5EF4-FFF2-40B4-BE49-F238E27FC236}">
                <a16:creationId xmlns:a16="http://schemas.microsoft.com/office/drawing/2014/main" id="{B3EAEB55-615B-4F4B-B3A0-1F104525501E}"/>
              </a:ext>
            </a:extLst>
          </p:cNvPr>
          <p:cNvPicPr>
            <a:picLocks noChangeAspect="1"/>
          </p:cNvPicPr>
          <p:nvPr/>
        </p:nvPicPr>
        <p:blipFill rotWithShape="1">
          <a:blip r:embed="rId3"/>
          <a:srcRect l="56629" t="25688" r="10653" b="33325"/>
          <a:stretch/>
        </p:blipFill>
        <p:spPr>
          <a:xfrm>
            <a:off x="7043532" y="1856862"/>
            <a:ext cx="4771412" cy="3360596"/>
          </a:xfrm>
          <a:prstGeom prst="rect">
            <a:avLst/>
          </a:prstGeom>
        </p:spPr>
      </p:pic>
      <p:sp>
        <p:nvSpPr>
          <p:cNvPr id="7" name="CuadroTexto 6">
            <a:extLst>
              <a:ext uri="{FF2B5EF4-FFF2-40B4-BE49-F238E27FC236}">
                <a16:creationId xmlns:a16="http://schemas.microsoft.com/office/drawing/2014/main" id="{8F742539-51C8-47EB-A9A3-A33C6C2FC94B}"/>
              </a:ext>
            </a:extLst>
          </p:cNvPr>
          <p:cNvSpPr txBox="1"/>
          <p:nvPr/>
        </p:nvSpPr>
        <p:spPr>
          <a:xfrm>
            <a:off x="838200" y="1690688"/>
            <a:ext cx="6098240" cy="4247317"/>
          </a:xfrm>
          <a:prstGeom prst="rect">
            <a:avLst/>
          </a:prstGeom>
          <a:noFill/>
        </p:spPr>
        <p:txBody>
          <a:bodyPr wrap="square">
            <a:spAutoFit/>
          </a:bodyPr>
          <a:lstStyle/>
          <a:p>
            <a:pPr algn="just" fontAlgn="base"/>
            <a:r>
              <a:rPr lang="es-MX" b="0" i="0" dirty="0">
                <a:effectLst/>
                <a:latin typeface="Comic Sans MS" panose="030F0702030302020204" pitchFamily="66" charset="0"/>
              </a:rPr>
              <a:t>La inmediatez, facilidad y disponibilidad para causar daño, la potencia de Internet, la dificultad de desarrollar la empatía en el entorno digital… son algunos de los factores que hacen que el ciberacoso entre iguales se haya convertido en el problema más relevante que afecta a la infancia y la adolescencia online.</a:t>
            </a:r>
          </a:p>
          <a:p>
            <a:pPr algn="just" fontAlgn="base"/>
            <a:r>
              <a:rPr lang="es-MX" b="0" i="0" dirty="0">
                <a:effectLst/>
                <a:latin typeface="Comic Sans MS" panose="030F0702030302020204" pitchFamily="66" charset="0"/>
              </a:rPr>
              <a:t>El ciberbullying o </a:t>
            </a:r>
            <a:r>
              <a:rPr lang="es-MX" b="0" i="0" dirty="0" err="1">
                <a:effectLst/>
                <a:latin typeface="Comic Sans MS" panose="030F0702030302020204" pitchFamily="66" charset="0"/>
              </a:rPr>
              <a:t>cyberbullying</a:t>
            </a:r>
            <a:r>
              <a:rPr lang="es-MX" b="0" i="0" dirty="0">
                <a:effectLst/>
                <a:latin typeface="Comic Sans MS" panose="030F0702030302020204" pitchFamily="66" charset="0"/>
              </a:rPr>
              <a:t> también es referenciado con otros términos como </a:t>
            </a:r>
            <a:r>
              <a:rPr lang="es-MX" b="0" i="0" dirty="0" err="1">
                <a:effectLst/>
                <a:latin typeface="Comic Sans MS" panose="030F0702030302020204" pitchFamily="66" charset="0"/>
              </a:rPr>
              <a:t>ciberhostigamiento</a:t>
            </a:r>
            <a:r>
              <a:rPr lang="es-MX" b="0" i="0" dirty="0">
                <a:effectLst/>
                <a:latin typeface="Comic Sans MS" panose="030F0702030302020204" pitchFamily="66" charset="0"/>
              </a:rPr>
              <a:t>, </a:t>
            </a:r>
            <a:r>
              <a:rPr lang="es-MX" b="0" i="0" dirty="0" err="1">
                <a:effectLst/>
                <a:latin typeface="Comic Sans MS" panose="030F0702030302020204" pitchFamily="66" charset="0"/>
              </a:rPr>
              <a:t>cibermatoneo</a:t>
            </a:r>
            <a:r>
              <a:rPr lang="es-MX" b="0" i="0" dirty="0">
                <a:effectLst/>
                <a:latin typeface="Comic Sans MS" panose="030F0702030302020204" pitchFamily="66" charset="0"/>
              </a:rPr>
              <a:t> o </a:t>
            </a:r>
            <a:r>
              <a:rPr lang="es-MX" b="0" i="0" dirty="0" err="1">
                <a:effectLst/>
                <a:latin typeface="Comic Sans MS" panose="030F0702030302020204" pitchFamily="66" charset="0"/>
              </a:rPr>
              <a:t>cibermatonaje</a:t>
            </a:r>
            <a:r>
              <a:rPr lang="es-MX" b="0" i="0" dirty="0">
                <a:effectLst/>
                <a:latin typeface="Comic Sans MS" panose="030F0702030302020204" pitchFamily="66" charset="0"/>
              </a:rPr>
              <a:t> y se refiere por lo general al entorno escolar con el uso de las redes sociales para atacar, discriminar, amenazar e intimidar a los demás compañeros. </a:t>
            </a:r>
          </a:p>
          <a:p>
            <a:pPr algn="just" fontAlgn="base"/>
            <a:endParaRPr lang="es-MX" dirty="0">
              <a:latin typeface="Comic Sans MS" panose="030F0702030302020204" pitchFamily="66" charset="0"/>
            </a:endParaRPr>
          </a:p>
          <a:p>
            <a:pPr algn="just" fontAlgn="base"/>
            <a:r>
              <a:rPr lang="es-MX" b="0" i="0" dirty="0">
                <a:effectLst/>
                <a:latin typeface="Comic Sans MS" panose="030F0702030302020204" pitchFamily="66" charset="0"/>
              </a:rPr>
              <a:t>Fuente: pantallas amigas.</a:t>
            </a:r>
          </a:p>
        </p:txBody>
      </p:sp>
    </p:spTree>
    <p:extLst>
      <p:ext uri="{BB962C8B-B14F-4D97-AF65-F5344CB8AC3E}">
        <p14:creationId xmlns:p14="http://schemas.microsoft.com/office/powerpoint/2010/main" val="86468867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F32A0B3-491E-4CBD-819D-BD03927218AA}"/>
              </a:ext>
            </a:extLst>
          </p:cNvPr>
          <p:cNvPicPr>
            <a:picLocks noChangeAspect="1"/>
          </p:cNvPicPr>
          <p:nvPr/>
        </p:nvPicPr>
        <p:blipFill rotWithShape="1">
          <a:blip r:embed="rId2"/>
          <a:srcRect l="36816" t="28241" r="13913" b="14764"/>
          <a:stretch/>
        </p:blipFill>
        <p:spPr>
          <a:xfrm>
            <a:off x="999680" y="1731496"/>
            <a:ext cx="9677285" cy="5405717"/>
          </a:xfrm>
          <a:prstGeom prst="rect">
            <a:avLst/>
          </a:prstGeom>
        </p:spPr>
      </p:pic>
      <p:sp>
        <p:nvSpPr>
          <p:cNvPr id="4" name="Rectángulo 3">
            <a:extLst>
              <a:ext uri="{FF2B5EF4-FFF2-40B4-BE49-F238E27FC236}">
                <a16:creationId xmlns:a16="http://schemas.microsoft.com/office/drawing/2014/main" id="{4774F52D-C9CC-420D-9362-5A8448CA6DF5}"/>
              </a:ext>
            </a:extLst>
          </p:cNvPr>
          <p:cNvSpPr/>
          <p:nvPr/>
        </p:nvSpPr>
        <p:spPr>
          <a:xfrm>
            <a:off x="999680" y="71299"/>
            <a:ext cx="9843016" cy="1754326"/>
          </a:xfrm>
          <a:prstGeom prst="rect">
            <a:avLst/>
          </a:prstGeom>
          <a:noFill/>
        </p:spPr>
        <p:txBody>
          <a:bodyPr wrap="none" lIns="91440" tIns="45720" rIns="91440" bIns="45720">
            <a:spAutoFit/>
          </a:bodyPr>
          <a:lstStyle/>
          <a:p>
            <a:pPr algn="ctr"/>
            <a:r>
              <a:rPr lang="es-CO" sz="5400" b="1" cap="none" spc="0" dirty="0">
                <a:ln w="22225">
                  <a:solidFill>
                    <a:schemeClr val="accent2"/>
                  </a:solidFill>
                  <a:prstDash val="solid"/>
                </a:ln>
                <a:solidFill>
                  <a:schemeClr val="accent2">
                    <a:lumMod val="40000"/>
                    <a:lumOff val="60000"/>
                  </a:schemeClr>
                </a:solidFill>
                <a:effectLst/>
              </a:rPr>
              <a:t>Consejos para hacer </a:t>
            </a:r>
          </a:p>
          <a:p>
            <a:pPr algn="ctr"/>
            <a:r>
              <a:rPr lang="es-CO" sz="5400" b="1" cap="none" spc="0" dirty="0">
                <a:ln w="22225">
                  <a:solidFill>
                    <a:schemeClr val="accent2"/>
                  </a:solidFill>
                  <a:prstDash val="solid"/>
                </a:ln>
                <a:solidFill>
                  <a:schemeClr val="accent2">
                    <a:lumMod val="40000"/>
                    <a:lumOff val="60000"/>
                  </a:schemeClr>
                </a:solidFill>
                <a:effectLst/>
              </a:rPr>
              <a:t>un buen uso de las redes sociales </a:t>
            </a:r>
          </a:p>
        </p:txBody>
      </p:sp>
    </p:spTree>
    <p:extLst>
      <p:ext uri="{BB962C8B-B14F-4D97-AF65-F5344CB8AC3E}">
        <p14:creationId xmlns:p14="http://schemas.microsoft.com/office/powerpoint/2010/main" val="35700089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D32C6-6574-433D-A7FB-6E668E9EF654}"/>
              </a:ext>
            </a:extLst>
          </p:cNvPr>
          <p:cNvSpPr>
            <a:spLocks noGrp="1"/>
          </p:cNvSpPr>
          <p:nvPr>
            <p:ph type="title"/>
          </p:nvPr>
        </p:nvSpPr>
        <p:spPr/>
        <p:txBody>
          <a:bodyPr>
            <a:normAutofit fontScale="90000"/>
          </a:bodyPr>
          <a:lstStyle/>
          <a:p>
            <a:pPr algn="ctr"/>
            <a:r>
              <a:rPr lang="es-CO" sz="5300" b="1" cap="none" spc="0" dirty="0">
                <a:ln w="22225">
                  <a:solidFill>
                    <a:schemeClr val="accent2"/>
                  </a:solidFill>
                  <a:prstDash val="solid"/>
                </a:ln>
                <a:solidFill>
                  <a:schemeClr val="accent2">
                    <a:lumMod val="40000"/>
                    <a:lumOff val="60000"/>
                  </a:schemeClr>
                </a:solidFill>
                <a:effectLst/>
              </a:rPr>
              <a:t>Consejos para hacer </a:t>
            </a:r>
            <a:br>
              <a:rPr lang="es-CO" sz="5300" b="1" cap="none" spc="0" dirty="0">
                <a:ln w="22225">
                  <a:solidFill>
                    <a:schemeClr val="accent2"/>
                  </a:solidFill>
                  <a:prstDash val="solid"/>
                </a:ln>
                <a:solidFill>
                  <a:schemeClr val="accent2">
                    <a:lumMod val="40000"/>
                    <a:lumOff val="60000"/>
                  </a:schemeClr>
                </a:solidFill>
                <a:effectLst/>
              </a:rPr>
            </a:br>
            <a:r>
              <a:rPr lang="es-CO" sz="5300" b="1" cap="none" spc="0" dirty="0">
                <a:ln w="22225">
                  <a:solidFill>
                    <a:schemeClr val="accent2"/>
                  </a:solidFill>
                  <a:prstDash val="solid"/>
                </a:ln>
                <a:solidFill>
                  <a:schemeClr val="accent2">
                    <a:lumMod val="40000"/>
                    <a:lumOff val="60000"/>
                  </a:schemeClr>
                </a:solidFill>
                <a:effectLst/>
              </a:rPr>
              <a:t>un buen uso de las redes sociales </a:t>
            </a:r>
            <a:br>
              <a:rPr lang="es-CO" sz="4400" b="1" cap="none" spc="0" dirty="0">
                <a:ln w="22225">
                  <a:solidFill>
                    <a:schemeClr val="accent2"/>
                  </a:solidFill>
                  <a:prstDash val="solid"/>
                </a:ln>
                <a:solidFill>
                  <a:schemeClr val="accent2">
                    <a:lumMod val="40000"/>
                    <a:lumOff val="60000"/>
                  </a:schemeClr>
                </a:solidFill>
                <a:effectLst/>
              </a:rPr>
            </a:br>
            <a:endParaRPr lang="es-CO" dirty="0"/>
          </a:p>
        </p:txBody>
      </p:sp>
      <p:sp>
        <p:nvSpPr>
          <p:cNvPr id="3" name="Marcador de contenido 2">
            <a:extLst>
              <a:ext uri="{FF2B5EF4-FFF2-40B4-BE49-F238E27FC236}">
                <a16:creationId xmlns:a16="http://schemas.microsoft.com/office/drawing/2014/main" id="{E94569E2-D399-4558-B9D7-B94DC481EA2D}"/>
              </a:ext>
            </a:extLst>
          </p:cNvPr>
          <p:cNvSpPr>
            <a:spLocks noGrp="1"/>
          </p:cNvSpPr>
          <p:nvPr>
            <p:ph idx="1"/>
          </p:nvPr>
        </p:nvSpPr>
        <p:spPr>
          <a:ln>
            <a:solidFill>
              <a:srgbClr val="002060"/>
            </a:solidFill>
          </a:ln>
        </p:spPr>
        <p:txBody>
          <a:bodyPr>
            <a:normAutofit fontScale="92500" lnSpcReduction="20000"/>
          </a:bodyPr>
          <a:lstStyle/>
          <a:p>
            <a:pPr algn="just">
              <a:buFont typeface="Arial" panose="020B0604020202020204" pitchFamily="34" charset="0"/>
              <a:buChar char="•"/>
            </a:pPr>
            <a:r>
              <a:rPr lang="es-MX" b="0" i="0" dirty="0">
                <a:solidFill>
                  <a:srgbClr val="222222"/>
                </a:solidFill>
                <a:effectLst/>
                <a:latin typeface="Comic Sans MS" panose="030F0702030302020204" pitchFamily="66" charset="0"/>
              </a:rPr>
              <a:t>Ten cuidado con lo que publicas. Recuerda que una vez que algo está publicado en internet, es muy difícil borrarlo. Así que piensa bien antes de publicar algo.</a:t>
            </a:r>
          </a:p>
          <a:p>
            <a:pPr algn="just">
              <a:buFont typeface="Arial" panose="020B0604020202020204" pitchFamily="34" charset="0"/>
              <a:buChar char="•"/>
            </a:pPr>
            <a:r>
              <a:rPr lang="es-MX" b="0" i="0" dirty="0">
                <a:solidFill>
                  <a:srgbClr val="222222"/>
                </a:solidFill>
                <a:effectLst/>
                <a:latin typeface="Comic Sans MS" panose="030F0702030302020204" pitchFamily="66" charset="0"/>
              </a:rPr>
              <a:t>No te involucres en peleas o en comentarios negativos. Las redes sociales son un lugar para compartir cosas positivas, así que no pierdas el tiempo en cosas negativas.</a:t>
            </a:r>
          </a:p>
          <a:p>
            <a:pPr algn="just">
              <a:buFont typeface="Arial" panose="020B0604020202020204" pitchFamily="34" charset="0"/>
              <a:buChar char="•"/>
            </a:pPr>
            <a:r>
              <a:rPr lang="es-MX" b="0" i="0" dirty="0">
                <a:solidFill>
                  <a:srgbClr val="222222"/>
                </a:solidFill>
                <a:effectLst/>
                <a:latin typeface="Comic Sans MS" panose="030F0702030302020204" pitchFamily="66" charset="0"/>
              </a:rPr>
              <a:t>Sé respetuoso. No escribas nada que pueda ofender a otras personas. Recuerda que detrás de cada perfil hay una persona real.</a:t>
            </a:r>
          </a:p>
          <a:p>
            <a:pPr algn="just">
              <a:buFont typeface="Arial" panose="020B0604020202020204" pitchFamily="34" charset="0"/>
              <a:buChar char="•"/>
            </a:pPr>
            <a:r>
              <a:rPr lang="es-MX" b="0" i="0" dirty="0">
                <a:solidFill>
                  <a:srgbClr val="222222"/>
                </a:solidFill>
                <a:effectLst/>
                <a:latin typeface="Comic Sans MS" panose="030F0702030302020204" pitchFamily="66" charset="0"/>
              </a:rPr>
              <a:t>No compartas información personal. Ten cuidado con lo que compartes en internet, ya que cualquiera puede verlo. No compartas tu dirección, número de teléfono, etc. si no estás seguro de que la persona a la que le estás dando es confiable.</a:t>
            </a:r>
          </a:p>
          <a:p>
            <a:pPr algn="just"/>
            <a:endParaRPr lang="es-CO" dirty="0"/>
          </a:p>
        </p:txBody>
      </p:sp>
    </p:spTree>
    <p:extLst>
      <p:ext uri="{BB962C8B-B14F-4D97-AF65-F5344CB8AC3E}">
        <p14:creationId xmlns:p14="http://schemas.microsoft.com/office/powerpoint/2010/main" val="1921276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8E0A914-CC09-40AC-9CFD-D7C1A1239779}"/>
              </a:ext>
            </a:extLst>
          </p:cNvPr>
          <p:cNvSpPr>
            <a:spLocks noGrp="1"/>
          </p:cNvSpPr>
          <p:nvPr>
            <p:ph idx="1"/>
          </p:nvPr>
        </p:nvSpPr>
        <p:spPr/>
        <p:txBody>
          <a:bodyPr/>
          <a:lstStyle/>
          <a:p>
            <a:pPr marL="0" indent="0" algn="just">
              <a:buNone/>
            </a:pPr>
            <a:r>
              <a:rPr lang="es-CO" dirty="0">
                <a:latin typeface="Britannic Bold" panose="020B0903060703020204" pitchFamily="34" charset="0"/>
              </a:rPr>
              <a:t>REALIZAR UN ESCRITO DE LAS BUENAS PRÁCTICAS QUE SE COMPROMETERÁN A TENER EN ADELANTE PARA EVITAR ALGUNOS DE LOS RIESGOS VISTOS DEL USO INADECUADO DE LAS REDES SOCIALES, ESTE ESCRITO LO ENTREGARÁN A SUS DIRECTORES DE GRADO CON LA FIRMA DE LOS PADRES O ACUDIENTES.</a:t>
            </a:r>
          </a:p>
        </p:txBody>
      </p:sp>
      <p:sp>
        <p:nvSpPr>
          <p:cNvPr id="4" name="Rectángulo 3">
            <a:extLst>
              <a:ext uri="{FF2B5EF4-FFF2-40B4-BE49-F238E27FC236}">
                <a16:creationId xmlns:a16="http://schemas.microsoft.com/office/drawing/2014/main" id="{837906F9-8650-42F8-9640-113FB38B43F9}"/>
              </a:ext>
            </a:extLst>
          </p:cNvPr>
          <p:cNvSpPr/>
          <p:nvPr/>
        </p:nvSpPr>
        <p:spPr>
          <a:xfrm>
            <a:off x="4414353" y="506523"/>
            <a:ext cx="3363293" cy="923330"/>
          </a:xfrm>
          <a:prstGeom prst="rect">
            <a:avLst/>
          </a:prstGeom>
          <a:noFill/>
        </p:spPr>
        <p:txBody>
          <a:bodyPr wrap="none" lIns="91440" tIns="45720" rIns="91440" bIns="45720">
            <a:spAutoFit/>
          </a:bodyPr>
          <a:lstStyle/>
          <a:p>
            <a:pPr algn="ctr"/>
            <a:r>
              <a:rPr lang="es-MX"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ACTIVIDAD</a:t>
            </a:r>
          </a:p>
        </p:txBody>
      </p:sp>
      <p:pic>
        <p:nvPicPr>
          <p:cNvPr id="6" name="Imagen 5">
            <a:extLst>
              <a:ext uri="{FF2B5EF4-FFF2-40B4-BE49-F238E27FC236}">
                <a16:creationId xmlns:a16="http://schemas.microsoft.com/office/drawing/2014/main" id="{2F6176CC-9E5D-4B6E-BA21-C8860686BE4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141694" y="3739777"/>
            <a:ext cx="4677335" cy="3118223"/>
          </a:xfrm>
          <a:prstGeom prst="rect">
            <a:avLst/>
          </a:prstGeom>
        </p:spPr>
      </p:pic>
      <p:sp>
        <p:nvSpPr>
          <p:cNvPr id="7" name="CuadroTexto 6">
            <a:extLst>
              <a:ext uri="{FF2B5EF4-FFF2-40B4-BE49-F238E27FC236}">
                <a16:creationId xmlns:a16="http://schemas.microsoft.com/office/drawing/2014/main" id="{F660B2A2-C3FA-42B3-94BC-AA4F3C784454}"/>
              </a:ext>
            </a:extLst>
          </p:cNvPr>
          <p:cNvSpPr txBox="1"/>
          <p:nvPr/>
        </p:nvSpPr>
        <p:spPr>
          <a:xfrm>
            <a:off x="4141694" y="7043113"/>
            <a:ext cx="4677335" cy="230832"/>
          </a:xfrm>
          <a:prstGeom prst="rect">
            <a:avLst/>
          </a:prstGeom>
          <a:noFill/>
        </p:spPr>
        <p:txBody>
          <a:bodyPr wrap="square" rtlCol="0">
            <a:spAutoFit/>
          </a:bodyPr>
          <a:lstStyle/>
          <a:p>
            <a:r>
              <a:rPr lang="es-CO" sz="900">
                <a:hlinkClick r:id="rId3" tooltip="https://www.cortorelatos.com/articulo/1/consejos-para-escribir-relatos-cortos-como-un-profesional/"/>
              </a:rPr>
              <a:t>Esta foto</a:t>
            </a:r>
            <a:r>
              <a:rPr lang="es-CO" sz="900"/>
              <a:t> de Autor desconocido está bajo licencia </a:t>
            </a:r>
            <a:r>
              <a:rPr lang="es-CO" sz="900">
                <a:hlinkClick r:id="rId4" tooltip="https://creativecommons.org/licenses/by-nc-nd/3.0/"/>
              </a:rPr>
              <a:t>CC BY-NC-ND</a:t>
            </a:r>
            <a:endParaRPr lang="es-CO" sz="900"/>
          </a:p>
        </p:txBody>
      </p:sp>
    </p:spTree>
    <p:extLst>
      <p:ext uri="{BB962C8B-B14F-4D97-AF65-F5344CB8AC3E}">
        <p14:creationId xmlns:p14="http://schemas.microsoft.com/office/powerpoint/2010/main" val="3587250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50304E-040A-4EDE-A6A6-62590A1BB723}"/>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FA63062F-5C68-4E18-999F-22A2B1638F21}"/>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1EFC6036-7FD2-448A-ABE7-499E61E72503}"/>
              </a:ext>
            </a:extLst>
          </p:cNvPr>
          <p:cNvPicPr>
            <a:picLocks noChangeAspect="1"/>
          </p:cNvPicPr>
          <p:nvPr/>
        </p:nvPicPr>
        <p:blipFill rotWithShape="1">
          <a:blip r:embed="rId2"/>
          <a:srcRect l="12717" t="14282" r="13913" b="22238"/>
          <a:stretch/>
        </p:blipFill>
        <p:spPr>
          <a:xfrm>
            <a:off x="-1" y="0"/>
            <a:ext cx="12259355" cy="6983896"/>
          </a:xfrm>
          <a:prstGeom prst="rect">
            <a:avLst/>
          </a:prstGeom>
        </p:spPr>
      </p:pic>
    </p:spTree>
    <p:extLst>
      <p:ext uri="{BB962C8B-B14F-4D97-AF65-F5344CB8AC3E}">
        <p14:creationId xmlns:p14="http://schemas.microsoft.com/office/powerpoint/2010/main" val="196440312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566</Words>
  <Application>Microsoft Office PowerPoint</Application>
  <PresentationFormat>Panorámica</PresentationFormat>
  <Paragraphs>22</Paragraphs>
  <Slides>12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Arial</vt:lpstr>
      <vt:lpstr>Britannic Bold</vt:lpstr>
      <vt:lpstr>Calibri</vt:lpstr>
      <vt:lpstr>Calibri Light</vt:lpstr>
      <vt:lpstr>Comic Sans MS</vt:lpstr>
      <vt:lpstr>SF Pro Display</vt:lpstr>
      <vt:lpstr>Tema de Office</vt:lpstr>
      <vt:lpstr>Presentación de PowerPoint</vt:lpstr>
      <vt:lpstr>Presentación de PowerPoint</vt:lpstr>
      <vt:lpstr>Presentación de PowerPoint</vt:lpstr>
      <vt:lpstr>Presentación de PowerPoint</vt:lpstr>
      <vt:lpstr>Presentación de PowerPoint</vt:lpstr>
      <vt:lpstr>SEXTING</vt:lpstr>
      <vt:lpstr>Presentación de PowerPoint</vt:lpstr>
      <vt:lpstr>CIBERBULLYNG</vt:lpstr>
      <vt:lpstr>Presentación de PowerPoint</vt:lpstr>
      <vt:lpstr>Consejos para hacer  un buen uso de las redes sociales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Andrea Guerrero Sanchez</dc:creator>
  <cp:lastModifiedBy>Andrea Guerrero Sanchez</cp:lastModifiedBy>
  <cp:revision>7</cp:revision>
  <dcterms:created xsi:type="dcterms:W3CDTF">2024-08-30T16:37:26Z</dcterms:created>
  <dcterms:modified xsi:type="dcterms:W3CDTF">2024-08-30T18:43:52Z</dcterms:modified>
</cp:coreProperties>
</file>